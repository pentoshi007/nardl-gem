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59"/>
  </p:normalViewPr>
  <p:slideViewPr>
    <p:cSldViewPr snapToGrid="0" snapToObjects="1">
      <p:cViewPr varScale="1">
        <p:scale>
          <a:sx n="105" d="100"/>
          <a:sy n="105" d="100"/>
        </p:scale>
        <p:origin x="74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3C72"/>
                </a:solidFill>
              </a:defRPr>
            </a:pPr>
            <a:r>
              <a:t>Dissertation Progress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0000"/>
                </a:solidFill>
              </a:defRPr>
            </a:pPr>
            <a:r>
              <a:rPr lang="en-US" dirty="0"/>
              <a:t>Asymmetric Pass-Through of Global Brent Crude Oil Shocks to India’s Monthly CPI Inflation (2004–2024): Evidence from an Asymmetric ADL Framework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646464"/>
                </a:solidFill>
              </a:defRPr>
            </a:pPr>
            <a:r>
              <a:rPr lang="en-US" dirty="0"/>
              <a:t>                                </a:t>
            </a:r>
            <a:r>
              <a:rPr dirty="0"/>
              <a:t>Short-Run Pass-Through to CPI Inflation in India, 2004-2024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Aniket Pandey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Supervisor: Prof. Shakti Kumar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MS Economics, JNU,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3C72"/>
                </a:solidFill>
              </a:defRPr>
            </a:pPr>
            <a:r>
              <a:t>Research Question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0000"/>
                </a:solidFill>
              </a:defRPr>
            </a:pPr>
            <a:r>
              <a:t>Core Question: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How strongly do oil price shocks pass through to India's monthly CPI inflation,</a:t>
            </a:r>
          </a:p>
          <a:p>
            <a:pPr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and is pass-through larger for oil price increases than for decreases?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0000"/>
                </a:solidFill>
              </a:defRPr>
            </a:pPr>
            <a:r>
              <a:t>Why This Matters: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- India imports ~85% of crude oil - highly vulnerable to global oil price shocks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- Oil affects petrol, diesel, cooking gas, transport, and ultimately all consumer prices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- If oil increases raise inflation more than oil decreases reduce it = ASYMMETRY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- Also called 'Rockets and Feathers' - prices go up fast but come down slowly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- Policy relevance: RBI monetary policy, fiscal interventions, subsidy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3C72"/>
                </a:solidFill>
              </a:defRPr>
            </a:pPr>
            <a:r>
              <a:t>Data Sources &amp; Study Window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0000"/>
                </a:solidFill>
              </a:defRPr>
            </a:pPr>
            <a:r>
              <a:t>Study Period: April 2004 - December 2024 (249 monthly observations)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Data Sources: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1. CPI (Consumer Price Index) - OECD via FRED (2015=100 base)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   Dependent variable: India's headline inflation measure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2. Brent Crude Oil Price (USD/barrel) - IMF via FRED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   Global benchmark; India's oil imports priced off Brent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3. INR/USD Exchange Rate - US Federal Reserve via FRED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   Oil priced in USD but India pays in INR; exchange rate matters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4. IIP (Index of Industrial Production) - RBI DBIE (chain-linked)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   Control variable for economic activity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5. Fuel &amp; Light CPI (Appendix only) - Official MoSPI CPI API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   More energy-sensitive price index; sample 2011-2024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3C72"/>
                </a:solidFill>
              </a:defRPr>
            </a:pPr>
            <a:r>
              <a:t>Raw Data Series (Levels)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_1_raw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Key Observations: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- CPI: Steady upward trend (non-stationary)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- Brent: Highly volatile with booms &amp; crashes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- INR/USD: Steady rupee depreciation (39 to 85)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- IIP: Upward trend, COVID crash visible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All series are TRENDING = non-stationary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=&gt; Must transform to log-differences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   for valid regression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3C72"/>
                </a:solidFill>
              </a:defRPr>
            </a:pPr>
            <a:r>
              <a:t>Log-Differenced Series (Monthly % Changes)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_2_log_diff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4457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After transformation: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dlnX(t) = 100 x [ln(X_t) - ln(X_{t-1})]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Why logs &amp; differences?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1. Percentage interpretation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2. Makes data stationary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3. Reduces skewness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4. Makes scales comparable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Key: Oil is ~12x more volatile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than CPI =&gt; expect small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pass-through coefficient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3C72"/>
                </a:solidFill>
              </a:defRPr>
            </a:pPr>
            <a:r>
              <a:t>Methodology: Asymmetric ADL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Step 1: Construct Oil_INR = Brent_USD x INR/USD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Step 2: Take log-differences (monthly % changes)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Step 3: Asymmetric Decomposition (KEY IDEA):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   dOil+(t) = max(dlnOil(t), 0)    -- keeps only INCREASES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   dOil-(t) = min(dlnOil(t), 0)    -- keeps only DECREASES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Step 4: Estimate Asymmetric ADL(p, q) model: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   dlnCPI(t) = a + SUM[gi * dlnCPI(t-i)]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             + SUM[pi+ * dOil+(t-j)]   (positive oil lags)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             + SUM[pi- * dOil-(t-j)]   (negative oil lags)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             + d*dlnIIP(t) + policy dummies + monthly dummies + e(t)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   Oil lag q = 3 (fixed by theory); AR lag p selected by AIC =&gt; p = 3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   Final model: ADL(3,3) with Newey-West HAC standard errors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3C72"/>
                </a:solidFill>
              </a:defRPr>
            </a:pPr>
            <a:r>
              <a:t>Oil Price Asymmetric Decomposition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_3_oi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4286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1887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Cumulative Partial Sums: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Red = Cumulative oil increases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Blue = Cumulative oil decreases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Both components have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substantial variation,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ensuring reliable estimation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of separate effects.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This is the core innovation: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splitting oil changes lets us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test if increases &amp; decreases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affect CPI differently.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3C72"/>
                </a:solidFill>
              </a:defRPr>
            </a:pPr>
            <a:r>
              <a:t>Unit Root Tests (ADF)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3426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rPr dirty="0"/>
              <a:t>Augmented Dickey-Fuller Test: H0: Unit root (non-stationary)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rPr dirty="0"/>
              <a:t>Variables in LEVELS:                             </a:t>
            </a:r>
            <a:r>
              <a:rPr lang="en-US" dirty="0"/>
              <a:t>           </a:t>
            </a:r>
            <a:r>
              <a:rPr dirty="0"/>
              <a:t> </a:t>
            </a:r>
            <a:r>
              <a:rPr lang="en-US" dirty="0"/>
              <a:t>    </a:t>
            </a:r>
            <a:r>
              <a:rPr dirty="0"/>
              <a:t>Variables in DIFFERENCES: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rPr dirty="0"/>
              <a:t>  ln(CPI)     ADF = -0.32   p = 0.99  FAIL        </a:t>
            </a:r>
            <a:r>
              <a:rPr lang="en-US" dirty="0"/>
              <a:t>    </a:t>
            </a:r>
            <a:r>
              <a:rPr dirty="0" err="1"/>
              <a:t>dlnCPI</a:t>
            </a:r>
            <a:r>
              <a:rPr dirty="0"/>
              <a:t>   ADF = -9.04   p &lt; 0.01  PASS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rPr dirty="0"/>
              <a:t>  ln(</a:t>
            </a:r>
            <a:r>
              <a:rPr dirty="0" err="1"/>
              <a:t>Oil_INR</a:t>
            </a:r>
            <a:r>
              <a:rPr dirty="0"/>
              <a:t>) ADF = -2.57   p = 0.33  FAIL        </a:t>
            </a:r>
            <a:r>
              <a:rPr dirty="0" err="1"/>
              <a:t>dlnOil</a:t>
            </a:r>
            <a:r>
              <a:rPr dirty="0"/>
              <a:t>   ADF = -6.13   p &lt; 0.01  PASS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rPr dirty="0"/>
              <a:t>  ln(EXR)     ADF = -3.69   p = 0.03  Border.     </a:t>
            </a:r>
            <a:r>
              <a:rPr dirty="0" err="1"/>
              <a:t>dlnEXR</a:t>
            </a:r>
            <a:r>
              <a:rPr dirty="0"/>
              <a:t>   ADF = -5.21   p &lt; 0.01  PASS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rPr dirty="0"/>
              <a:t>  ln(IIP)     ADF = -3.20   p = 0.09  FAIL        </a:t>
            </a:r>
            <a:r>
              <a:rPr lang="en-US" dirty="0"/>
              <a:t>      </a:t>
            </a:r>
            <a:r>
              <a:rPr dirty="0" err="1"/>
              <a:t>dlnIIP</a:t>
            </a:r>
            <a:r>
              <a:rPr dirty="0"/>
              <a:t>   ADF = -8.22   p &lt; 0.01  PASS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rPr dirty="0"/>
              <a:t>Conclusion: All variables are I(1) - integrated of order 1.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rPr dirty="0"/>
              <a:t>Levels are non-stationary; first differences are strongly stationary.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rPr dirty="0"/>
              <a:t>This justifies our estimation in log-differences.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3C72"/>
                </a:solidFill>
              </a:defRPr>
            </a:pPr>
            <a:r>
              <a:t>Main Results: Asymmetric ADL(3,3)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Cumulative Pass-Through (CPT) = Total oil effect over 0-3 month lags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  CPT+ (positive oil effect)  = 0.021296     +10% oil shock =&gt; +0.213 pp CPI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  CPT- (negative oil effect)  = 0.000598     -10% oil shock =&gt; -0.006 pp CPI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  Asymmetry Gap               = 0.020698     Positive effect is ~35x larger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Statistical Tests (Newey-West HAC):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  H0: CPT+ = 0       p = 0.1220   Not significant at 5%, borderline at 12%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  H0: CPT- = 0       p = 0.9375   Clearly not significant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  H0: CPT+ = CPT-    p = 0.2408   Asymmetry not significant at 5%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  Adj R-squared = 0.4492   (model explains ~45% of CPI variation)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  N = 245 observations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Interpretation: Point estimates show clear asymmetry. Positive oil shocks have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economically meaningful effect. But formal asymmetry test is not significant at 5%.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3C72"/>
                </a:solidFill>
              </a:defRPr>
            </a:pPr>
            <a:r>
              <a:t>Cumulative Pass-Through by Lag Horizon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_4_cumulative_passthroug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4286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188720"/>
            <a:ext cx="4114800" cy="4042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rPr dirty="0"/>
              <a:t>KEY RESULT PLOT: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rPr dirty="0"/>
              <a:t>Red (CPT+): Builds up to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rPr dirty="0"/>
              <a:t>~</a:t>
            </a:r>
            <a:r>
              <a:rPr lang="en-US" dirty="0"/>
              <a:t> </a:t>
            </a:r>
            <a:r>
              <a:rPr dirty="0"/>
              <a:t>0.021 by lag 3. Oil increases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rPr dirty="0"/>
              <a:t>take 2-3 months to transmit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rPr dirty="0"/>
              <a:t>to CPI.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rPr dirty="0"/>
              <a:t>Blue (CPT-): Stays near zero.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rPr dirty="0"/>
              <a:t>Oil decreases have essentially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rPr dirty="0"/>
              <a:t>NO effect on CPI.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rPr dirty="0"/>
              <a:t>The 2-month delay reflects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rPr dirty="0"/>
              <a:t>supply chain transmission: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rPr dirty="0"/>
              <a:t>oil =&gt; refineries =&gt; retail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rPr dirty="0"/>
              <a:t>fuel =&gt; transport =&gt; goods.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3C72"/>
                </a:solidFill>
              </a:defRPr>
            </a:pPr>
            <a:r>
              <a:t>Formal Asymmetry Test (Wald Test)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Wald Test: H0: CPT+ = CPT-  (no asymmetry)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  F-statistic = 1.3835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  p-value     = 0.2408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  Decision    = Fail to reject H0 at 5%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Why asymmetry is not statistically significant: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1. Headline CPI composition: Food is 47% of India's CPI basket.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   Oil is a small direct component. Effects get diluted by food-price noise.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2. Government interventions: Excise duty adjustments, LPG subsidies,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   price controls buffer consumers from full oil shocks.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3. Downward price rigidity: Administered prices and mark-up pricing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   adjust slowly and incompletely, especially downward.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4. Time-varying dynamics: 20 years averages together different regimes.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   Rolling window shows significance in some sub-periods.</a:t>
            </a:r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500" b="0">
                <a:solidFill>
                  <a:srgbClr val="000000"/>
                </a:solidFill>
              </a:defRPr>
            </a:pPr>
            <a:r>
              <a:t>This is NOT a failure - many published studies on headline CPI find similar results.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3C72"/>
                </a:solidFill>
              </a:defRPr>
            </a:pPr>
            <a:r>
              <a:t>Sub-Sample Analysis: Pre/Post Diesel Deregulation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_5_subsampl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943600" cy="3714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Split at October 2014 (diesel deregulation):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Pre-2014 (N=122):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  CPT+ = 0.0173, CPT- = 0.0099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  p(asymmetry) = 0.846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  Adj R2 = 0.357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Post-2014 (N=123):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  CPT+ = 0.0102, CPT- = -0.002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  p(asymmetry) = 0.443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  Adj R2 = 0.500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Post-2014 shows cleaner results: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positive shock positive, negative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shock near-zero. Better model fit.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After deregulation, market prices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respond more directly to oil.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3C72"/>
                </a:solidFill>
              </a:defRPr>
            </a:pPr>
            <a:r>
              <a:t>Diagnostic Tests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420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Model Diagnostics (Main Asymmetric ADL):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  Test                        Statistic    p-value    Result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  ----                        ---------    -------    ------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  Breusch-Godfrey LM(12)     19.71        0.073      PASS (no autocorrelation)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  Breusch-Pagan              </a:t>
            </a:r>
            <a:r>
              <a:rPr lang="en-US" dirty="0"/>
              <a:t>        </a:t>
            </a:r>
            <a:r>
              <a:rPr dirty="0"/>
              <a:t>44.76        0.013      FAIL* (heteroskedasticity)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  Ramsey RESET               </a:t>
            </a:r>
            <a:r>
              <a:rPr lang="en-US" dirty="0"/>
              <a:t>      </a:t>
            </a:r>
            <a:r>
              <a:rPr dirty="0"/>
              <a:t> 2.80       </a:t>
            </a:r>
            <a:r>
              <a:rPr lang="en-US" dirty="0"/>
              <a:t>  </a:t>
            </a:r>
            <a:r>
              <a:rPr dirty="0"/>
              <a:t> 0.063      PASS (correct functional form)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  CUSUM Stability            </a:t>
            </a:r>
            <a:r>
              <a:rPr lang="en-US" dirty="0"/>
              <a:t>      </a:t>
            </a:r>
            <a:r>
              <a:rPr dirty="0"/>
              <a:t> 0.86        </a:t>
            </a:r>
            <a:r>
              <a:rPr lang="en-US" dirty="0"/>
              <a:t>  </a:t>
            </a:r>
            <a:r>
              <a:rPr dirty="0"/>
              <a:t>0.091      PASS (model is stable)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* Breusch-Pagan detects heteroskedasticity, which is EXPECTED in </a:t>
            </a:r>
            <a:endParaRPr lang="en-US" dirty="0"/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lang="en-US" dirty="0"/>
              <a:t>   </a:t>
            </a:r>
            <a:r>
              <a:rPr dirty="0"/>
              <a:t>macro data.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  This is precisely why we use Newey-West HAC standard errors -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  they give valid inference even with heteroskedasticity.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  The detection CONFIRMS our methodological choice was correct.</a:t>
            </a:r>
          </a:p>
        </p:txBody>
      </p:sp>
      <p:pic>
        <p:nvPicPr>
          <p:cNvPr id="5" name="Picture 4" descr="fig_6_cusum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832854" y="1864614"/>
            <a:ext cx="5254752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3C72"/>
                </a:solidFill>
              </a:defRPr>
            </a:pPr>
            <a:r>
              <a:t>Residual Diagnostics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_8_residual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000000"/>
                </a:solidFill>
              </a:defRPr>
            </a:pPr>
            <a:r>
              <a:t>4-Panel Diagnostics:</a:t>
            </a:r>
          </a:p>
          <a:p>
            <a:pPr>
              <a:spcAft>
                <a:spcPts val="400"/>
              </a:spcAft>
              <a:defRPr sz="13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 b="0">
                <a:solidFill>
                  <a:srgbClr val="000000"/>
                </a:solidFill>
              </a:defRPr>
            </a:pPr>
            <a:r>
              <a:t>1. Residuals over time:</a:t>
            </a:r>
          </a:p>
          <a:p>
            <a:pPr>
              <a:spcAft>
                <a:spcPts val="400"/>
              </a:spcAft>
              <a:defRPr sz="1300" b="0">
                <a:solidFill>
                  <a:srgbClr val="000000"/>
                </a:solidFill>
              </a:defRPr>
            </a:pPr>
            <a:r>
              <a:t>   No pattern =&gt; no autocorrelation</a:t>
            </a:r>
          </a:p>
          <a:p>
            <a:pPr>
              <a:spcAft>
                <a:spcPts val="400"/>
              </a:spcAft>
              <a:defRPr sz="13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 b="0">
                <a:solidFill>
                  <a:srgbClr val="000000"/>
                </a:solidFill>
              </a:defRPr>
            </a:pPr>
            <a:r>
              <a:t>2. Histogram:</a:t>
            </a:r>
          </a:p>
          <a:p>
            <a:pPr>
              <a:spcAft>
                <a:spcPts val="400"/>
              </a:spcAft>
              <a:defRPr sz="1300" b="0">
                <a:solidFill>
                  <a:srgbClr val="000000"/>
                </a:solidFill>
              </a:defRPr>
            </a:pPr>
            <a:r>
              <a:t>   Roughly bell-shaped,</a:t>
            </a:r>
          </a:p>
          <a:p>
            <a:pPr>
              <a:spcAft>
                <a:spcPts val="400"/>
              </a:spcAft>
              <a:defRPr sz="1300" b="0">
                <a:solidFill>
                  <a:srgbClr val="000000"/>
                </a:solidFill>
              </a:defRPr>
            </a:pPr>
            <a:r>
              <a:t>   fat tails (typical for macro)</a:t>
            </a:r>
          </a:p>
          <a:p>
            <a:pPr>
              <a:spcAft>
                <a:spcPts val="400"/>
              </a:spcAft>
              <a:defRPr sz="13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 b="0">
                <a:solidFill>
                  <a:srgbClr val="000000"/>
                </a:solidFill>
              </a:defRPr>
            </a:pPr>
            <a:r>
              <a:t>3. Q-Q Plot:</a:t>
            </a:r>
          </a:p>
          <a:p>
            <a:pPr>
              <a:spcAft>
                <a:spcPts val="400"/>
              </a:spcAft>
              <a:defRPr sz="1300" b="0">
                <a:solidFill>
                  <a:srgbClr val="000000"/>
                </a:solidFill>
              </a:defRPr>
            </a:pPr>
            <a:r>
              <a:t>   Mostly follows line,</a:t>
            </a:r>
          </a:p>
          <a:p>
            <a:pPr>
              <a:spcAft>
                <a:spcPts val="400"/>
              </a:spcAft>
              <a:defRPr sz="1300" b="0">
                <a:solidFill>
                  <a:srgbClr val="000000"/>
                </a:solidFill>
              </a:defRPr>
            </a:pPr>
            <a:r>
              <a:t>   minor tail deviations</a:t>
            </a:r>
          </a:p>
          <a:p>
            <a:pPr>
              <a:spcAft>
                <a:spcPts val="400"/>
              </a:spcAft>
              <a:defRPr sz="13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 b="0">
                <a:solidFill>
                  <a:srgbClr val="000000"/>
                </a:solidFill>
              </a:defRPr>
            </a:pPr>
            <a:r>
              <a:t>4. Actual vs Fitted:</a:t>
            </a:r>
          </a:p>
          <a:p>
            <a:pPr>
              <a:spcAft>
                <a:spcPts val="400"/>
              </a:spcAft>
              <a:defRPr sz="1300" b="0">
                <a:solidFill>
                  <a:srgbClr val="000000"/>
                </a:solidFill>
              </a:defRPr>
            </a:pPr>
            <a:r>
              <a:t>   Clusters around 45-degree line</a:t>
            </a:r>
          </a:p>
          <a:p>
            <a:pPr>
              <a:spcAft>
                <a:spcPts val="400"/>
              </a:spcAft>
              <a:defRPr sz="13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 b="0">
                <a:solidFill>
                  <a:srgbClr val="000000"/>
                </a:solidFill>
              </a:defRPr>
            </a:pPr>
            <a:r>
              <a:t>Overall: Residuals well-behaved.</a:t>
            </a:r>
          </a:p>
          <a:p>
            <a:pPr>
              <a:spcAft>
                <a:spcPts val="400"/>
              </a:spcAft>
              <a:defRPr sz="1300" b="0">
                <a:solidFill>
                  <a:srgbClr val="000000"/>
                </a:solidFill>
              </a:defRPr>
            </a:pPr>
            <a:r>
              <a:t>HAC handles mild non-normality.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3C72"/>
                </a:solidFill>
              </a:defRPr>
            </a:pPr>
            <a:r>
              <a:t>Robustness: Brent + Exchange Rate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420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Separating world oil price from exchange rate channel: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                        Primary (</a:t>
            </a:r>
            <a:r>
              <a:rPr dirty="0" err="1"/>
              <a:t>Oil_INR</a:t>
            </a:r>
            <a:r>
              <a:rPr dirty="0"/>
              <a:t>)    </a:t>
            </a:r>
            <a:r>
              <a:rPr lang="en-US" dirty="0"/>
              <a:t>             </a:t>
            </a:r>
            <a:r>
              <a:rPr dirty="0"/>
              <a:t>Brent USD + EXR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  CPT+                  </a:t>
            </a:r>
            <a:r>
              <a:rPr lang="en-US" dirty="0"/>
              <a:t>        </a:t>
            </a:r>
            <a:r>
              <a:rPr dirty="0"/>
              <a:t>0.021296             </a:t>
            </a:r>
            <a:r>
              <a:rPr lang="en-US" dirty="0"/>
              <a:t>           </a:t>
            </a:r>
            <a:r>
              <a:rPr dirty="0"/>
              <a:t>0.027458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  +10% shock effect     +0.213 pp            </a:t>
            </a:r>
            <a:r>
              <a:rPr lang="en-US" dirty="0"/>
              <a:t>        </a:t>
            </a:r>
            <a:r>
              <a:rPr dirty="0"/>
              <a:t>+0.275 pp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  p(CPT+ = 0)           </a:t>
            </a:r>
            <a:r>
              <a:rPr lang="en-US" dirty="0"/>
              <a:t>        </a:t>
            </a:r>
            <a:r>
              <a:rPr dirty="0"/>
              <a:t>0.1220               </a:t>
            </a:r>
            <a:r>
              <a:rPr lang="en-US" dirty="0"/>
              <a:t>          </a:t>
            </a:r>
            <a:r>
              <a:rPr dirty="0"/>
              <a:t>0.0933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  EXR coefficient       </a:t>
            </a:r>
            <a:r>
              <a:rPr lang="en-US" dirty="0"/>
              <a:t>       </a:t>
            </a:r>
            <a:r>
              <a:rPr dirty="0"/>
              <a:t>--                  </a:t>
            </a:r>
            <a:r>
              <a:rPr lang="en-US" dirty="0"/>
              <a:t>            </a:t>
            </a:r>
            <a:r>
              <a:rPr dirty="0"/>
              <a:t> </a:t>
            </a:r>
            <a:r>
              <a:rPr lang="en-US" dirty="0"/>
              <a:t>   </a:t>
            </a:r>
            <a:r>
              <a:rPr dirty="0"/>
              <a:t>0.039619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  EXR p-value           </a:t>
            </a:r>
            <a:r>
              <a:rPr lang="en-US" dirty="0"/>
              <a:t>         </a:t>
            </a:r>
            <a:r>
              <a:rPr dirty="0"/>
              <a:t>--                  </a:t>
            </a:r>
            <a:r>
              <a:rPr lang="en-US" dirty="0"/>
              <a:t>               </a:t>
            </a:r>
            <a:r>
              <a:rPr dirty="0"/>
              <a:t>0.0287 **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  Adj R-squared        </a:t>
            </a:r>
            <a:r>
              <a:rPr lang="en-US" dirty="0"/>
              <a:t>    </a:t>
            </a:r>
            <a:r>
              <a:rPr dirty="0"/>
              <a:t> 0.4492               </a:t>
            </a:r>
            <a:r>
              <a:rPr lang="en-US" dirty="0"/>
              <a:t>            </a:t>
            </a:r>
            <a:r>
              <a:rPr dirty="0"/>
              <a:t>0.4575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Key Finding: Exchange rate is SIGNIFICANT (p = 0.029)!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A 1% rupee depreciation raises CPI by ~0.04 pp independently of oil.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This separates the world oil channel from the currency channel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and strengthens the India-specific interpretation.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3C72"/>
                </a:solidFill>
              </a:defRPr>
            </a:pPr>
            <a:r>
              <a:t>Appendix: Fuel &amp; Light CPI (MoSPI API)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5098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Using official </a:t>
            </a:r>
            <a:r>
              <a:rPr dirty="0" err="1"/>
              <a:t>MoSPI</a:t>
            </a:r>
            <a:r>
              <a:rPr dirty="0"/>
              <a:t> Fuel &amp; Light CPI sub-index (2011-2024):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                        Headline CPI (Main)    </a:t>
            </a:r>
            <a:r>
              <a:rPr lang="en-US" dirty="0"/>
              <a:t>        </a:t>
            </a:r>
            <a:r>
              <a:rPr dirty="0"/>
              <a:t>Fuel &amp; Light CPI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  CPT+                  0.021296               </a:t>
            </a:r>
            <a:r>
              <a:rPr lang="en-US" dirty="0"/>
              <a:t>            </a:t>
            </a:r>
            <a:r>
              <a:rPr dirty="0"/>
              <a:t>0.060848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  +10% shock effect     +0.213 pp              +0.609 pp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  p(CPT+ = 0)           0.1220                 </a:t>
            </a:r>
            <a:r>
              <a:rPr lang="en-US" dirty="0"/>
              <a:t>        </a:t>
            </a:r>
            <a:r>
              <a:rPr dirty="0"/>
              <a:t>0.0337 **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  p(Asymmetry)           0.2408                 </a:t>
            </a:r>
            <a:r>
              <a:rPr lang="en-US" dirty="0"/>
              <a:t>      </a:t>
            </a:r>
            <a:r>
              <a:rPr dirty="0"/>
              <a:t>0.2647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  Adj R-squared         0.4492                 </a:t>
            </a:r>
            <a:r>
              <a:rPr lang="en-US" dirty="0"/>
              <a:t>      </a:t>
            </a:r>
            <a:r>
              <a:rPr dirty="0"/>
              <a:t>0.2144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Key Finding: Fuel CPI shows 3x STRONGER and STATISTICALLY SIGNIFICANT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positive oil pass-through (p = 0.034)!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This is exactly what theory predicts: a more energy-exposed CPI sub-index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responds more directly to oil prices.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endParaRPr dirty="0"/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This is the STRONGEST supporting evidence in the dissertation.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rPr dirty="0"/>
              <a:t>It confirms: oil DOES pass through to prices - headline CPI just dilutes the signal.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3C72"/>
                </a:solidFill>
              </a:defRPr>
            </a:pPr>
            <a:r>
              <a:t>Oil Price Regimes in Our Sample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_9_oil_price_regi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3152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1887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Our 20-year sample covers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ALL major oil regimes: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- China Boom (2004-08)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- GFC Crash (2008-09)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- Shale Glut (2014-16)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- COVID (2020)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- Russia-Ukraine (2022)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Rich variation in both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positive and negative shocks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of large magnitude.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3C72"/>
                </a:solidFill>
              </a:defRPr>
            </a:pPr>
            <a:r>
              <a:t>Rolling 60-Month Window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_7_rolling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4286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1887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Rolling 5-year windows: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Red (CPT+): Varies over time,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often positive, strongest in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volatile oil periods.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Blue (CPT-): Consistently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near zero.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Dotted line = diesel deregulation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This explains weak full-sample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Wald test: averaging 20 years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of changing dynamics dilutes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the asymmetry signal.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3C72"/>
                </a:solidFill>
              </a:defRPr>
            </a:pPr>
            <a:r>
              <a:t>Asymmetry Gap: Full Sample &amp; Sub-Samples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g_10_asymmetry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400800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1887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In ALL three samples: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  CPT+ (red) &gt; |CPT-| (blue)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The DIRECTION of asymmetry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is completely robust across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all sample periods.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Even though statistical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significance is elusive,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the pattern is consistent: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Oil increases affect CPI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more than oil decreases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=&gt; 'Rockets and Feathers'</a:t>
            </a:r>
          </a:p>
          <a:p>
            <a:pPr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behavior in India.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3C72"/>
                </a:solidFill>
              </a:defRPr>
            </a:pPr>
            <a:r>
              <a:t>Conclusions &amp;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25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1. Positive oil shocks pass through to India's CPI inflation with economically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   meaningful magnitude: a 10% oil shock raises monthly CPI by ~0.21 pp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2. Negative oil shocks have essentially zero effect on CPI (CPT- ~ 0.0006)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3. Point estimates show clear asymmetry (CPT+ is 35x larger than |CPT-|),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   but formal Wald test is not significant at 5% (p = 0.24)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4. Exchange rate matters independently: a 1% rupee depreciation raises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   CPI by ~0.04 pp (significance p = 0.029 in Brent+EXR model)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5. Fuel &amp; Light CPI shows 3x stronger and statistically significant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   positive pass-through (p = 0.034), confirming the energy channel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6. Results are robust to lag selection, COVID removal, winsorization,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   and sub-sample splits. All diagnostics pass.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7. Weak asymmetry in headline CPI is expected: food (47%) dilutes the signal,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   government interventions buffer consumers, prices are sticky downward.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2104</Words>
  <Application>Microsoft Macintosh PowerPoint</Application>
  <PresentationFormat>Widescreen</PresentationFormat>
  <Paragraphs>310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Aniket Pandey</cp:lastModifiedBy>
  <cp:revision>2</cp:revision>
  <dcterms:created xsi:type="dcterms:W3CDTF">2013-01-27T09:14:16Z</dcterms:created>
  <dcterms:modified xsi:type="dcterms:W3CDTF">2026-04-08T05:25:58Z</dcterms:modified>
  <cp:category/>
</cp:coreProperties>
</file>